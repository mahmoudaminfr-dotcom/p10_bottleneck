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e" id="{4E22F0DB-6055-BE10-5327-DA3C273D7D62}">
          <p14:sldIdLst>
            <p14:sldId id="256"/>
            <p14:sldId id="257"/>
            <p14:sldId id="258"/>
          </p14:sldIdLst>
        </p14:section>
        <p14:section name="Pipeline" id="{004B0FBB-88E2-E5D9-2302-D85570CB2391}">
          <p14:sldIdLst>
            <p14:sldId id="259"/>
            <p14:sldId id="260"/>
            <p14:sldId id="261"/>
            <p14:sldId id="262"/>
            <p14:sldId id="263"/>
          </p14:sldIdLst>
        </p14:section>
        <p14:section name="Résilience &amp; démo" id="{40A74218-D514-E5D4-AA19-7710A9370FB8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3382" autoAdjust="0"/>
  </p:normalViewPr>
  <p:slideViewPr>
    <p:cSldViewPr snapToGrid="0" snapToObjects="1">
      <p:cViewPr varScale="1">
        <p:scale>
          <a:sx n="135" d="100"/>
          <a:sy n="135" d="100"/>
        </p:scale>
        <p:origin x="25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83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le bordeaux"/>
          <p:cNvSpPr/>
          <p:nvPr/>
        </p:nvSpPr>
        <p:spPr>
          <a:xfrm>
            <a:off x="6492240" y="502920"/>
            <a:ext cx="2194560" cy="21945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cône vin" descr="Verre de v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430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PILOTAGE · BOTTLENECK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144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Industrialisation &amp; Fiabilisation du Pipeline Data BottleNeck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mensuelle de la réconciliation ERP / Web, du reporting financier et de la segmentation marketing avec Kestra, DuckDB et Python</a:t>
            </a:r>
            <a:endParaRPr lang="en-US" sz="1500" dirty="0"/>
          </a:p>
        </p:txBody>
      </p:sp>
      <p:sp>
        <p:nvSpPr>
          <p:cNvPr id="7" name="Bloc infos"/>
          <p:cNvSpPr/>
          <p:nvPr/>
        </p:nvSpPr>
        <p:spPr>
          <a:xfrm>
            <a:off x="548640" y="3566160"/>
            <a:ext cx="8046720" cy="1005840"/>
          </a:xfrm>
          <a:prstGeom prst="roundRect">
            <a:avLst>
              <a:gd name="adj" fmla="val 7273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 Mahmoud — Data Engineer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Laurent (Manager Data), Stéphane (Data Analyst), Laure (Produits B2B), Maria (Produits B2C) &amp; DSI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 2026</a:t>
            </a:r>
            <a:endParaRPr lang="en-US" sz="1200" dirty="0"/>
          </a:p>
        </p:txBody>
      </p:sp>
      <p:sp>
        <p:nvSpPr>
          <p:cNvPr id="10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métier &amp; objectifs d'industrialisation</a:t>
            </a:r>
            <a:endParaRPr lang="en-US" sz="2600" dirty="0"/>
          </a:p>
        </p:txBody>
      </p:sp>
      <p:sp>
        <p:nvSpPr>
          <p:cNvPr id="3" name="Carte 1"/>
          <p:cNvSpPr/>
          <p:nvPr/>
        </p:nvSpPr>
        <p:spPr>
          <a:xfrm>
            <a:off x="457200" y="1051560"/>
            <a:ext cx="2587752" cy="3383280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1. Point de départ cercle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1. Point de départ" descr="1. Point de dép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3444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Point de départ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5448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de Stéphane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2221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exports isolés 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(prix, stocks), CMS Web (ventes en ligne) et table de liaison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validée 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→ réconciliation → chiffre d'affaires → Z-score des </a:t>
            </a:r>
            <a:r>
              <a:rPr lang="en-US" sz="1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premium</a:t>
            </a:r>
            <a:endParaRPr lang="en-US" sz="1400" dirty="0"/>
          </a:p>
        </p:txBody>
      </p:sp>
      <p:sp>
        <p:nvSpPr>
          <p:cNvPr id="9" name="Carte 2"/>
          <p:cNvSpPr/>
          <p:nvPr/>
        </p:nvSpPr>
        <p:spPr>
          <a:xfrm>
            <a:off x="3278124" y="1051560"/>
            <a:ext cx="2587752" cy="3383280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2. Besoins métiers cercle"/>
          <p:cNvSpPr/>
          <p:nvPr/>
        </p:nvSpPr>
        <p:spPr>
          <a:xfrm>
            <a:off x="3461004" y="12344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2. Besoins métiers" descr="2. Besoins méti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1371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46804" y="123444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Besoins métiers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146804" y="155448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livrables attendus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461004" y="2011680"/>
            <a:ext cx="2221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Excel, CA par produit et CA total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 (B2B) : </a:t>
            </a:r>
            <a:r>
              <a:rPr lang="en-US" sz="1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vins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premium en CSV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(B2C) 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vins ordinaires en CSV</a:t>
            </a:r>
            <a:endParaRPr lang="en-US" sz="1400" dirty="0"/>
          </a:p>
        </p:txBody>
      </p:sp>
      <p:sp>
        <p:nvSpPr>
          <p:cNvPr id="15" name="Carte 3"/>
          <p:cNvSpPr/>
          <p:nvPr/>
        </p:nvSpPr>
        <p:spPr>
          <a:xfrm>
            <a:off x="6099048" y="1051560"/>
            <a:ext cx="2587752" cy="3383280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3. L'objectif cercle"/>
          <p:cNvSpPr/>
          <p:nvPr/>
        </p:nvSpPr>
        <p:spPr>
          <a:xfrm>
            <a:off x="6281928" y="12344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3. L'objectif" descr="3. L'object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3716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67728" y="123444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L'objectif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967728" y="155448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et garantir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281928" y="2011680"/>
            <a:ext cx="2221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 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15 de chaque mois à 09h00 (</a:t>
            </a:r>
            <a:r>
              <a:rPr lang="en-US" sz="14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Paris), sans intervention humaine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Zéro défaut » 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fichier généré si une donnée source est corrompue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 &amp; choix technologiques</a:t>
            </a:r>
            <a:endParaRPr lang="en-US" sz="2600" dirty="0"/>
          </a:p>
        </p:txBody>
      </p:sp>
      <p:sp>
        <p:nvSpPr>
          <p:cNvPr id="3" name="Principe directeur"/>
          <p:cNvSpPr/>
          <p:nvPr/>
        </p:nvSpPr>
        <p:spPr>
          <a:xfrm>
            <a:off x="457200" y="960120"/>
            <a:ext cx="82296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directeur :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l'Orchestration (chef d'orchestre) du Traitement (moteurs de calcul)</a:t>
            </a:r>
            <a:endParaRPr lang="en-US" sz="1400" dirty="0"/>
          </a:p>
        </p:txBody>
      </p:sp>
      <p:sp>
        <p:nvSpPr>
          <p:cNvPr id="5" name="Carte Kestra"/>
          <p:cNvSpPr/>
          <p:nvPr/>
        </p:nvSpPr>
        <p:spPr>
          <a:xfrm>
            <a:off x="457200" y="16002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Kestra cercle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Kestra" descr="Kest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Kestra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23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validé avec la DSI : interface visuelle, code déclaratif (YAML),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séquencés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exports parallèles, planification Cron,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tracée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les logs.</a:t>
            </a:r>
            <a:endParaRPr lang="en-US" sz="1200" dirty="0"/>
          </a:p>
        </p:txBody>
      </p:sp>
      <p:sp>
        <p:nvSpPr>
          <p:cNvPr id="10" name="Carte DuckDB"/>
          <p:cNvSpPr/>
          <p:nvPr/>
        </p:nvSpPr>
        <p:spPr>
          <a:xfrm>
            <a:off x="4663440" y="16002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DuckDB cercle"/>
          <p:cNvSpPr/>
          <p:nvPr/>
        </p:nvSpPr>
        <p:spPr>
          <a:xfrm>
            <a:off x="4846320" y="1783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DuckDB" descr="DuckD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DuckDB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SQL analytique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2423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embarquée ultra-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bottleneck.duckdb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séquencés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d’écriture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unique)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staging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lectures </a:t>
            </a:r>
            <a:r>
              <a:rPr lang="en-US" sz="12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paralléles</a:t>
            </a: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Carte Python &amp; Pandas"/>
          <p:cNvSpPr/>
          <p:nvPr/>
        </p:nvSpPr>
        <p:spPr>
          <a:xfrm>
            <a:off x="457200" y="32918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Python &amp; Pandas cercle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Python &amp; Pandas" descr="Python &amp; Pand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118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Pandas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&amp; exports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sur la population et génération des livrables .xlsx et .csv.</a:t>
            </a:r>
            <a:endParaRPr lang="en-US" sz="1200" dirty="0"/>
          </a:p>
        </p:txBody>
      </p:sp>
      <p:sp>
        <p:nvSpPr>
          <p:cNvPr id="20" name="Carte Docker &amp; PostgreSQL 16"/>
          <p:cNvSpPr/>
          <p:nvPr/>
        </p:nvSpPr>
        <p:spPr>
          <a:xfrm>
            <a:off x="4663440" y="32918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Docker &amp; PostgreSQL 16 cercle"/>
          <p:cNvSpPr/>
          <p:nvPr/>
        </p:nvSpPr>
        <p:spPr>
          <a:xfrm>
            <a:off x="4846320" y="34747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Docker &amp; PostgreSQL 16" descr="Docker &amp; PostgreSQL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118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53212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&amp; PostgreSQL 16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84632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: portabilité, isolation et reproductibilité totale du pipeline.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629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Logigramme fonctionnel du pipeline</a:t>
            </a:r>
            <a:endParaRPr lang="en-US" sz="2600" dirty="0"/>
          </a:p>
        </p:txBody>
      </p:sp>
      <p:sp>
        <p:nvSpPr>
          <p:cNvPr id="5" name="Point clé 1"/>
          <p:cNvSpPr/>
          <p:nvPr/>
        </p:nvSpPr>
        <p:spPr>
          <a:xfrm>
            <a:off x="457200" y="4492060"/>
            <a:ext cx="4023360" cy="564571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Icône point 1 cercle"/>
          <p:cNvSpPr/>
          <p:nvPr/>
        </p:nvSpPr>
        <p:spPr>
          <a:xfrm>
            <a:off x="548640" y="454277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cône point 1" descr="Icône poin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643360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449790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dirty="0"/>
              <a:t>Calculs séquencés puis exports parallèles </a:t>
            </a:r>
            <a:r>
              <a:rPr lang="fr-FR" sz="1100" dirty="0"/>
              <a:t>: Étapes 1 à 4B l'une après l'autre → Étape 5 (exports Excel &amp; CSV en parallèle) → Étape 6 (lot indiqué par LAST_VALID_LOT.txt)</a:t>
            </a: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Point clé 2"/>
          <p:cNvSpPr/>
          <p:nvPr/>
        </p:nvSpPr>
        <p:spPr>
          <a:xfrm>
            <a:off x="4572000" y="4492060"/>
            <a:ext cx="4023360" cy="564571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Icône point 2 cercle"/>
          <p:cNvSpPr/>
          <p:nvPr/>
        </p:nvSpPr>
        <p:spPr>
          <a:xfrm>
            <a:off x="4663440" y="4542776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cône point 2" descr="Icône poin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464336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66360" y="4483762"/>
            <a:ext cx="3337560" cy="572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dirty="0"/>
              <a:t>Fail-Fast (Tests 1 à 5) </a:t>
            </a:r>
            <a:r>
              <a:rPr lang="fr-FR" sz="1100" dirty="0"/>
              <a:t>: arrêt immédiat au premier défaut et ligne d'alerte dans les logs Kestra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6" name="Image 15" descr="The image depicts a detailed flowchart for an automated monthly bottleneck process (Automatisation Mensuelle Bottleneck) within a quality control and process function (COPIL) system, involving steps such as data preparation, error checking, data reconciliation, quality checks, and generation of financial reports.&#10;&#10;Le contenu généré par l’IA peut être incorrect.">
            <a:extLst>
              <a:ext uri="{FF2B5EF4-FFF2-40B4-BE49-F238E27FC236}">
                <a16:creationId xmlns:a16="http://schemas.microsoft.com/office/drawing/2014/main" id="{DAFA5111-96E5-A75E-BBB1-4FF786CA5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85" y="719174"/>
            <a:ext cx="8041535" cy="3612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des sources &amp; réconciliation métier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035039"/>
              </p:ext>
            </p:extLst>
          </p:nvPr>
        </p:nvGraphicFramePr>
        <p:xfrm>
          <a:off x="457200" y="960120"/>
          <a:ext cx="8229600" cy="18745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Fichier_erp.xlsx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 lignes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dirty="0"/>
                        <a:t>Aucune case vide, aucun doublon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 réf. uniques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fichier_liaison.xlsx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 lignes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id_web non renseignés (produits non vendus en ligne)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 correspondances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Fichier_web.xlsx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1 513 lignes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sku vides → 1 428, </a:t>
                      </a:r>
                      <a:r>
                        <a:rPr lang="fr-FR" sz="1100" dirty="0"/>
                        <a:t>puis exclusion des 714 fichiers d'images pour ne garder que les fiches produits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714 produits uniques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erp_web_merged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dirty="0"/>
                        <a:t>Croisement des fichiers ERP et Web via la table de correspondance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714 produits intègres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Anomalie ERP"/>
          <p:cNvSpPr/>
          <p:nvPr/>
        </p:nvSpPr>
        <p:spPr>
          <a:xfrm>
            <a:off x="457200" y="31089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E8E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Anomalie ERP cercle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Anomalie ERP" descr="Anomalie ER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387852"/>
            <a:ext cx="192024" cy="1920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32918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Anomalie ERP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références à prix négatifs : product_id 5017 (−8,00 €) et 6594 (−1,00 €), hors vente web (onsale_web = 0). Écartées par la jointure et surveillées par le Test 3 (price &gt; 0).</a:t>
            </a:r>
            <a:endParaRPr lang="en-US" sz="1300" dirty="0"/>
          </a:p>
        </p:txBody>
      </p:sp>
      <p:sp>
        <p:nvSpPr>
          <p:cNvPr id="9" name="Anomalie CMS Web"/>
          <p:cNvSpPr/>
          <p:nvPr/>
        </p:nvSpPr>
        <p:spPr>
          <a:xfrm>
            <a:off x="4663440" y="31089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3E8E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Anomalie CMS Web cercle"/>
          <p:cNvSpPr/>
          <p:nvPr/>
        </p:nvSpPr>
        <p:spPr>
          <a:xfrm>
            <a:off x="4846320" y="3291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Anomalie CMS Web" descr="Anomalie CMS We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3387852"/>
            <a:ext cx="192024" cy="1920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49240" y="32918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Anomalie CMS Web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85 lignes sans sku, 2 sont de vraies fiches : Pierre Jean Villa Condrieu Jardin Suspendu 2018 et Côte Rôtie Fongeant 2017. À corriger dans le CMS.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Kestra : ordonnancement visuel</a:t>
            </a:r>
            <a:endParaRPr lang="en-US" sz="2600" dirty="0"/>
          </a:p>
        </p:txBody>
      </p:sp>
      <p:sp>
        <p:nvSpPr>
          <p:cNvPr id="3" name="Cadre topologie"/>
          <p:cNvSpPr/>
          <p:nvPr/>
        </p:nvSpPr>
        <p:spPr>
          <a:xfrm>
            <a:off x="235670" y="960120"/>
            <a:ext cx="8686800" cy="1242508"/>
          </a:xfrm>
          <a:prstGeom prst="rect">
            <a:avLst/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457200" y="22483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Topologie générée automatiquement à partir du code YAML</a:t>
            </a:r>
            <a:endParaRPr lang="en-US" sz="1000" dirty="0"/>
          </a:p>
        </p:txBody>
      </p:sp>
      <p:sp>
        <p:nvSpPr>
          <p:cNvPr id="6" name="Concept Flow"/>
          <p:cNvSpPr/>
          <p:nvPr/>
        </p:nvSpPr>
        <p:spPr>
          <a:xfrm>
            <a:off x="457200" y="269748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Flow cercle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Flow" descr="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00609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Flow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813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bottleneck_pipeline : le plan de marche global, dans un fichier YAML unique et lisible.</a:t>
            </a:r>
            <a:endParaRPr lang="en-US" sz="1200" dirty="0"/>
          </a:p>
        </p:txBody>
      </p:sp>
      <p:sp>
        <p:nvSpPr>
          <p:cNvPr id="11" name="Concept Tasks"/>
          <p:cNvSpPr/>
          <p:nvPr/>
        </p:nvSpPr>
        <p:spPr>
          <a:xfrm>
            <a:off x="2560320" y="269748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asks cercle"/>
          <p:cNvSpPr/>
          <p:nvPr/>
        </p:nvSpPr>
        <p:spPr>
          <a:xfrm>
            <a:off x="2743200" y="2880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Tasks" descr="Task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930" y="300609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43200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Tasks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2743200" y="3813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briques unitaires : une transformation de données ou un test de contrôle.</a:t>
            </a:r>
            <a:endParaRPr lang="en-US" sz="1200" dirty="0"/>
          </a:p>
        </p:txBody>
      </p:sp>
      <p:sp>
        <p:nvSpPr>
          <p:cNvPr id="16" name="Concept Parallel"/>
          <p:cNvSpPr/>
          <p:nvPr/>
        </p:nvSpPr>
        <p:spPr>
          <a:xfrm>
            <a:off x="4663440" y="269748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Parallel cercle"/>
          <p:cNvSpPr/>
          <p:nvPr/>
        </p:nvSpPr>
        <p:spPr>
          <a:xfrm>
            <a:off x="4846320" y="2880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Parallel" descr="Parall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300609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6320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Parallel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846320" y="3813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200" dirty="0"/>
              <a:t>Calculs séquencés ; seuls les exports finaux (Excel et CSV) sont exécutés en parallèle.</a:t>
            </a:r>
            <a:endParaRPr lang="en-US" sz="1200" dirty="0"/>
          </a:p>
        </p:txBody>
      </p:sp>
      <p:sp>
        <p:nvSpPr>
          <p:cNvPr id="21" name="Concept Trigger"/>
          <p:cNvSpPr/>
          <p:nvPr/>
        </p:nvSpPr>
        <p:spPr>
          <a:xfrm>
            <a:off x="6766560" y="269748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rigger cercle"/>
          <p:cNvSpPr/>
          <p:nvPr/>
        </p:nvSpPr>
        <p:spPr>
          <a:xfrm>
            <a:off x="6949440" y="28803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Trigger" descr="Trigg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170" y="300609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49440" y="3502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Trigger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38130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200" dirty="0"/>
              <a:t>Cron 0 9 15 * * : le 15 de chaque mois à 09h00 (heure de Paris) en mode production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8" name="Image 27" descr="The image shows a visual representation of a flow diagram with various code elements, process names, and file references.&#10;&#10;Le contenu généré par l’IA peut être incorrect.">
            <a:extLst>
              <a:ext uri="{FF2B5EF4-FFF2-40B4-BE49-F238E27FC236}">
                <a16:creationId xmlns:a16="http://schemas.microsoft.com/office/drawing/2014/main" id="{3F9E706D-4A35-D739-3D53-4517A179C8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00" t="47682" r="3000" b="28144"/>
          <a:stretch>
            <a:fillRect/>
          </a:stretch>
        </p:blipFill>
        <p:spPr>
          <a:xfrm>
            <a:off x="274320" y="1072226"/>
            <a:ext cx="8595360" cy="1010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automatisés Fail-Fast &amp; résultats validés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52295"/>
              </p:ext>
            </p:extLst>
          </p:nvPr>
        </p:nvGraphicFramePr>
        <p:xfrm>
          <a:off x="457200" y="768283"/>
          <a:ext cx="8229600" cy="24688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4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Kestra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 vérifiée automatiquement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validé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1 — Valeurs manquantes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dirty="0"/>
                        <a:t>100 % des codes produits renseignés &amp; volume Web nettoyé conforme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825 | liaison 825 | web 1 428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2 — Unicité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dirty="0"/>
                        <a:t>Vérification qu'aucun produit n'apparaît en double dans les 3 fichiers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825 | liaison 825 | web 714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3 — Jointure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dirty="0"/>
                        <a:t>Aucune donnée manquante et 100 % des prix 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714 produits réconciliés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4A — Financier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CA négatif, contrôle de la somme totale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Total = 70 568,60 €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4B — Z-score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Répartition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exacte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(prix moyen = 32,49 €, Ecart-type = 27,79 €)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Premium + 684 Ordinaires = 714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5 — </a:t>
                      </a:r>
                      <a:r>
                        <a:rPr lang="en-US" sz="1100" b="1" dirty="0" err="1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Intégrité</a:t>
                      </a: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et Publication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</a:t>
                      </a: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d’absence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manquantes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sur les champs </a:t>
                      </a: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obligatoire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des </a:t>
                      </a: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livrables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et validation du staging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Fichiers</a:t>
                      </a: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validés</a:t>
                      </a: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et </a:t>
                      </a:r>
                      <a:r>
                        <a:rPr lang="en-US" sz="1100" b="1" dirty="0" err="1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pointés</a:t>
                      </a: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dans un lot </a:t>
                      </a:r>
                      <a:r>
                        <a:rPr lang="en-US" sz="1100" b="1" dirty="0" err="1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isolé</a:t>
                      </a:r>
                      <a:r>
                        <a:rPr lang="en-US" sz="1100" b="1" dirty="0">
                          <a:solidFill>
                            <a:srgbClr val="225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87150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49345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: 14 tâches au vert </a:t>
            </a:r>
            <a:r>
              <a:rPr lang="en-US" sz="1100" b="1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18,94 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374035" y="3349345"/>
            <a:ext cx="4130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: valeurs exactes confirmées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9" name="Image 8" descr="The image displays a project management dashboard, showcasing a Gantt chart with various tasks, executions, and timelines, including details like duration, success, and dependencies.&#10;&#10;Le contenu généré par l’IA peut être incorrect.">
            <a:extLst>
              <a:ext uri="{FF2B5EF4-FFF2-40B4-BE49-F238E27FC236}">
                <a16:creationId xmlns:a16="http://schemas.microsoft.com/office/drawing/2014/main" id="{D2152B8B-9864-E4E7-8290-CBA355F864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" t="14219" r="1289" b="8702"/>
          <a:stretch>
            <a:fillRect/>
          </a:stretch>
        </p:blipFill>
        <p:spPr>
          <a:xfrm>
            <a:off x="482655" y="3512941"/>
            <a:ext cx="3589726" cy="1584340"/>
          </a:xfrm>
          <a:prstGeom prst="rect">
            <a:avLst/>
          </a:prstGeom>
        </p:spPr>
      </p:pic>
      <p:pic>
        <p:nvPicPr>
          <p:cNvPr id="11" name="Image 10" descr="The image shows a detailed log from a data processing pipeline, indicating various stages such as ingestion, cleaning, deduplication, and testing, with different metrics for lines processed and unique values validated.&#10;&#10;Le contenu généré par l’IA peut être incorrect.">
            <a:extLst>
              <a:ext uri="{FF2B5EF4-FFF2-40B4-BE49-F238E27FC236}">
                <a16:creationId xmlns:a16="http://schemas.microsoft.com/office/drawing/2014/main" id="{1C42E5C3-40D3-9DEF-4E21-EDCFDE8F46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02" t="14805" r="21920" b="26965"/>
          <a:stretch>
            <a:fillRect/>
          </a:stretch>
        </p:blipFill>
        <p:spPr>
          <a:xfrm>
            <a:off x="4374035" y="3514407"/>
            <a:ext cx="3190974" cy="15848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de robustesse : simulation d'anomalie (Test KO)</a:t>
            </a:r>
            <a:endParaRPr lang="en-US" sz="2600" dirty="0"/>
          </a:p>
        </p:txBody>
      </p:sp>
      <p:sp>
        <p:nvSpPr>
          <p:cNvPr id="3" name="Cadre KO"/>
          <p:cNvSpPr/>
          <p:nvPr/>
        </p:nvSpPr>
        <p:spPr>
          <a:xfrm>
            <a:off x="411480" y="960120"/>
            <a:ext cx="5120640" cy="2325661"/>
          </a:xfrm>
          <a:prstGeom prst="rect">
            <a:avLst/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Capture Test KO" descr="Exécution Kestra en échec au Test 3 et alerte automatiq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029200" cy="2234221"/>
          </a:xfrm>
          <a:prstGeom prst="rect">
            <a:avLst/>
          </a:prstGeom>
        </p:spPr>
      </p:pic>
      <p:sp>
        <p:nvSpPr>
          <p:cNvPr id="5" name="Bandeau garantie"/>
          <p:cNvSpPr/>
          <p:nvPr/>
        </p:nvSpPr>
        <p:spPr>
          <a:xfrm>
            <a:off x="457200" y="3562923"/>
            <a:ext cx="5029200" cy="1149059"/>
          </a:xfrm>
          <a:prstGeom prst="roundRect">
            <a:avLst>
              <a:gd name="adj" fmla="val 6366"/>
            </a:avLst>
          </a:prstGeom>
          <a:solidFill>
            <a:srgbClr val="F3E8E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Garantie cercle"/>
          <p:cNvSpPr/>
          <p:nvPr/>
        </p:nvSpPr>
        <p:spPr>
          <a:xfrm>
            <a:off x="640080" y="3745803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Garantie" descr="Garanti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860103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3654363"/>
            <a:ext cx="4114800" cy="966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du mois précédent ne sont jamais écrasés par des données fausses.</a:t>
            </a:r>
            <a:endParaRPr lang="en-US" sz="1300" dirty="0"/>
          </a:p>
        </p:txBody>
      </p:sp>
      <p:sp>
        <p:nvSpPr>
          <p:cNvPr id="9" name="1. Détection immédiate"/>
          <p:cNvSpPr/>
          <p:nvPr/>
        </p:nvSpPr>
        <p:spPr>
          <a:xfrm>
            <a:off x="5715000" y="960120"/>
            <a:ext cx="297180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1. Détection immédiate cercle"/>
          <p:cNvSpPr/>
          <p:nvPr/>
        </p:nvSpPr>
        <p:spPr>
          <a:xfrm>
            <a:off x="5852160" y="10972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1. Détection immédiate" descr="1. Détection immédi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5030" y="1200150"/>
            <a:ext cx="205740" cy="2057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55080" y="1069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Détection immédiate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852160" y="15544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100" dirty="0"/>
              <a:t>Le contrôle détecte une anomalie (ici : un prix négatif ou nul) et bloque immédiatement l'exécution.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2. Arrêt franc">
            <a:extLst>
              <a:ext uri="{FF2B5EF4-FFF2-40B4-BE49-F238E27FC236}">
                <a16:creationId xmlns:a16="http://schemas.microsoft.com/office/drawing/2014/main" id="{F4B8C012-787C-6F7D-0649-16AEBA4F11A1}"/>
              </a:ext>
            </a:extLst>
          </p:cNvPr>
          <p:cNvSpPr/>
          <p:nvPr/>
        </p:nvSpPr>
        <p:spPr>
          <a:xfrm>
            <a:off x="5715000" y="2194560"/>
            <a:ext cx="2971800" cy="11887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2. Arrêt franc cercle">
            <a:extLst>
              <a:ext uri="{FF2B5EF4-FFF2-40B4-BE49-F238E27FC236}">
                <a16:creationId xmlns:a16="http://schemas.microsoft.com/office/drawing/2014/main" id="{F11D4AB8-A2CC-E13D-B03D-53B7F19E197F}"/>
              </a:ext>
            </a:extLst>
          </p:cNvPr>
          <p:cNvSpPr/>
          <p:nvPr/>
        </p:nvSpPr>
        <p:spPr>
          <a:xfrm>
            <a:off x="5852160" y="23317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2. Arrêt franc" descr="2. Arrêt franc">
            <a:extLst>
              <a:ext uri="{FF2B5EF4-FFF2-40B4-BE49-F238E27FC236}">
                <a16:creationId xmlns:a16="http://schemas.microsoft.com/office/drawing/2014/main" id="{C15164BD-F19A-6842-C66F-A8E8818FFA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030" y="2434590"/>
            <a:ext cx="205740" cy="205740"/>
          </a:xfrm>
          <a:prstGeom prst="rect">
            <a:avLst/>
          </a:prstGeom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25B45044-EC7C-3A58-DC03-52C48136DDC3}"/>
              </a:ext>
            </a:extLst>
          </p:cNvPr>
          <p:cNvSpPr txBox="1"/>
          <p:nvPr/>
        </p:nvSpPr>
        <p:spPr>
          <a:xfrm>
            <a:off x="6355080" y="2304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Arrêt franc</a:t>
            </a:r>
            <a:endParaRPr lang="en-US" sz="13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13AC3458-777B-2FA7-141D-66B5FC57725D}"/>
              </a:ext>
            </a:extLst>
          </p:cNvPr>
          <p:cNvSpPr txBox="1"/>
          <p:nvPr/>
        </p:nvSpPr>
        <p:spPr>
          <a:xfrm>
            <a:off x="585216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100" dirty="0"/>
              <a:t>Les tâches aval ne sont pas exécutées et le </a:t>
            </a:r>
            <a:r>
              <a:rPr lang="fr-FR" sz="1100" dirty="0" err="1"/>
              <a:t>staging</a:t>
            </a:r>
            <a:r>
              <a:rPr lang="fr-FR" sz="1100" dirty="0"/>
              <a:t> est purgé. Le dernier lot pointé par LAST_VALID_LOT.txt reste intact.</a:t>
            </a:r>
            <a:endParaRPr lang="en-US" sz="1100" dirty="0"/>
          </a:p>
        </p:txBody>
      </p:sp>
      <p:sp>
        <p:nvSpPr>
          <p:cNvPr id="36" name="3. Alerte automatique">
            <a:extLst>
              <a:ext uri="{FF2B5EF4-FFF2-40B4-BE49-F238E27FC236}">
                <a16:creationId xmlns:a16="http://schemas.microsoft.com/office/drawing/2014/main" id="{852A43E0-DFC7-747C-CD45-45EE4DAA14A6}"/>
              </a:ext>
            </a:extLst>
          </p:cNvPr>
          <p:cNvSpPr/>
          <p:nvPr/>
        </p:nvSpPr>
        <p:spPr>
          <a:xfrm>
            <a:off x="5715000" y="3546986"/>
            <a:ext cx="2971800" cy="11887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3. Alerte automatique cercle">
            <a:extLst>
              <a:ext uri="{FF2B5EF4-FFF2-40B4-BE49-F238E27FC236}">
                <a16:creationId xmlns:a16="http://schemas.microsoft.com/office/drawing/2014/main" id="{7CBFE5AB-EC65-E989-DF45-D8EFCAD09939}"/>
              </a:ext>
            </a:extLst>
          </p:cNvPr>
          <p:cNvSpPr/>
          <p:nvPr/>
        </p:nvSpPr>
        <p:spPr>
          <a:xfrm>
            <a:off x="5852160" y="3684146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3. Alerte automatique" descr="3. Alerte automatique">
            <a:extLst>
              <a:ext uri="{FF2B5EF4-FFF2-40B4-BE49-F238E27FC236}">
                <a16:creationId xmlns:a16="http://schemas.microsoft.com/office/drawing/2014/main" id="{970A4B21-D01C-091D-F4F1-6B5E7A632E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5030" y="3787016"/>
            <a:ext cx="205740" cy="205740"/>
          </a:xfrm>
          <a:prstGeom prst="rect">
            <a:avLst/>
          </a:prstGeom>
        </p:spPr>
      </p:pic>
      <p:sp>
        <p:nvSpPr>
          <p:cNvPr id="42" name="Text 15">
            <a:extLst>
              <a:ext uri="{FF2B5EF4-FFF2-40B4-BE49-F238E27FC236}">
                <a16:creationId xmlns:a16="http://schemas.microsoft.com/office/drawing/2014/main" id="{7AEB2406-A93D-670B-D2AE-0C2279885099}"/>
              </a:ext>
            </a:extLst>
          </p:cNvPr>
          <p:cNvSpPr txBox="1"/>
          <p:nvPr/>
        </p:nvSpPr>
        <p:spPr>
          <a:xfrm>
            <a:off x="6355080" y="365671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Alerte automatique</a:t>
            </a:r>
            <a:endParaRPr lang="en-US" sz="13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FE75D5D8-DE83-AA0A-3CD3-A319D694A266}"/>
              </a:ext>
            </a:extLst>
          </p:cNvPr>
          <p:cNvSpPr txBox="1"/>
          <p:nvPr/>
        </p:nvSpPr>
        <p:spPr>
          <a:xfrm>
            <a:off x="5806765" y="4141346"/>
            <a:ext cx="291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1100" dirty="0"/>
              <a:t>En cas d'anomalie, l'alerte reste une ligne tracée dans les logs Kestra, sans notification envoyée à l'équipe.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Résilience, gestion des pannes &amp; évolutions</a:t>
            </a:r>
            <a:endParaRPr lang="en-US" sz="2600" dirty="0"/>
          </a:p>
        </p:txBody>
      </p:sp>
      <p:sp>
        <p:nvSpPr>
          <p:cNvPr id="3" name="En-tête Solutions implémentées (focus DSI)"/>
          <p:cNvSpPr/>
          <p:nvPr/>
        </p:nvSpPr>
        <p:spPr>
          <a:xfrm>
            <a:off x="457200" y="960120"/>
            <a:ext cx="402336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cône Solutions implémentées (focus DSI)" descr="Solutions implémentées (focus DS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6984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960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implémentées (focus DSI)</a:t>
            </a:r>
            <a:endParaRPr lang="en-US" sz="1400" dirty="0"/>
          </a:p>
        </p:txBody>
      </p:sp>
      <p:sp>
        <p:nvSpPr>
          <p:cNvPr id="6" name="Item Indisponibilité temporaire (verrou DuckDB, disque)"/>
          <p:cNvSpPr/>
          <p:nvPr/>
        </p:nvSpPr>
        <p:spPr>
          <a:xfrm>
            <a:off x="457200" y="15544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Indisponibilité temporaire (verrou DuckDB, disque) cercle"/>
          <p:cNvSpPr/>
          <p:nvPr/>
        </p:nvSpPr>
        <p:spPr>
          <a:xfrm>
            <a:off x="594360" y="180136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ndisponibilité temporaire (verrou DuckDB, disque)" descr="Indisponibilité temporaire (verrou DuckDB, disqu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1915668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609344"/>
            <a:ext cx="3200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Indisponibilité temporaire (verrou DuckDB, disque)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automatique : 3 tentatives espacées de 10 secondes avant échec.</a:t>
            </a:r>
            <a:endParaRPr lang="en-US" sz="1300" dirty="0"/>
          </a:p>
        </p:txBody>
      </p:sp>
      <p:sp>
        <p:nvSpPr>
          <p:cNvPr id="10" name="Item Source absente ou corrompue"/>
          <p:cNvSpPr/>
          <p:nvPr/>
        </p:nvSpPr>
        <p:spPr>
          <a:xfrm>
            <a:off x="457200" y="2624328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ource absente ou corrompue cercle"/>
          <p:cNvSpPr/>
          <p:nvPr/>
        </p:nvSpPr>
        <p:spPr>
          <a:xfrm>
            <a:off x="594360" y="287121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Source absente ou corrompue" descr="Source absente ou corrompu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298551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679192"/>
            <a:ext cx="3200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absente ou corrompue</a:t>
            </a:r>
            <a:endParaRPr lang="en-US" sz="1300" dirty="0"/>
          </a:p>
          <a:p>
            <a:r>
              <a:rPr lang="fr-FR" sz="1200" dirty="0"/>
              <a:t>Contrôle dès l'ouverture que les fichiers sont complets et acceptation des codes produits contenant des lettres (ex: bons cadeaux).</a:t>
            </a:r>
            <a:endParaRPr lang="en-US" sz="1300" dirty="0"/>
          </a:p>
        </p:txBody>
      </p:sp>
      <p:sp>
        <p:nvSpPr>
          <p:cNvPr id="14" name="Item Isolation &amp; persistance"/>
          <p:cNvSpPr/>
          <p:nvPr/>
        </p:nvSpPr>
        <p:spPr>
          <a:xfrm>
            <a:off x="457200" y="3694176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Isolation &amp; persistance cercle"/>
          <p:cNvSpPr/>
          <p:nvPr/>
        </p:nvSpPr>
        <p:spPr>
          <a:xfrm>
            <a:off x="594360" y="394106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solation &amp; persistance" descr="Isolation &amp; persistan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4055364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749040"/>
            <a:ext cx="3200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&amp; persistance</a:t>
            </a:r>
            <a:endParaRPr lang="en-US" sz="1300" dirty="0"/>
          </a:p>
          <a:p>
            <a:r>
              <a:rPr lang="fr-FR" sz="1200" dirty="0"/>
              <a:t>Création des fichiers dans un espace temporaire, puis validation finale dans un dossier dédié pointé par LAST_VALID_LOT.txt.</a:t>
            </a:r>
            <a:endParaRPr lang="en-US" sz="1300" dirty="0"/>
          </a:p>
        </p:txBody>
      </p:sp>
      <p:sp>
        <p:nvSpPr>
          <p:cNvPr id="18" name="En-tête Pistes d'évolution"/>
          <p:cNvSpPr/>
          <p:nvPr/>
        </p:nvSpPr>
        <p:spPr>
          <a:xfrm>
            <a:off x="4663440" y="960120"/>
            <a:ext cx="402336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cône Pistes d'évolution" descr="Pistes d'évolu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06984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166360" y="960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Pistes d'évolution</a:t>
            </a:r>
            <a:endParaRPr lang="en-US" sz="1400" dirty="0"/>
          </a:p>
        </p:txBody>
      </p:sp>
      <p:sp>
        <p:nvSpPr>
          <p:cNvPr id="21" name="Item Alerting temps réel"/>
          <p:cNvSpPr/>
          <p:nvPr/>
        </p:nvSpPr>
        <p:spPr>
          <a:xfrm>
            <a:off x="4663440" y="15544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Alerting temps réel cercle"/>
          <p:cNvSpPr/>
          <p:nvPr/>
        </p:nvSpPr>
        <p:spPr>
          <a:xfrm>
            <a:off x="4800600" y="18013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Alerting temps réel" descr="Alerting temps rée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1915668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394960" y="1609344"/>
            <a:ext cx="3200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temps réel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errors sur Slack, Teams ou SMTP ; envoyer les livrables à Laure et Maria.</a:t>
            </a:r>
            <a:endParaRPr lang="en-US" sz="1300" dirty="0"/>
          </a:p>
        </p:txBody>
      </p:sp>
      <p:sp>
        <p:nvSpPr>
          <p:cNvPr id="25" name="Item Tests dynamiques"/>
          <p:cNvSpPr/>
          <p:nvPr/>
        </p:nvSpPr>
        <p:spPr>
          <a:xfrm>
            <a:off x="4663440" y="2624328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sts dynamiques cercle"/>
          <p:cNvSpPr/>
          <p:nvPr/>
        </p:nvSpPr>
        <p:spPr>
          <a:xfrm>
            <a:off x="4800600" y="28712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Tests dynamiques" descr="Tests dynamiqu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2985516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394960" y="2679192"/>
            <a:ext cx="3200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dynamiques</a:t>
            </a:r>
            <a:endParaRPr lang="en-US" sz="1300" dirty="0"/>
          </a:p>
          <a:p>
            <a:r>
              <a:rPr lang="fr-FR" sz="1200" dirty="0"/>
              <a:t>Mode PRODUCTION_MENSUELLE déjà actif sur le trigger : contrôle d'invariants dynamiques sans seuils fixes lorsque le catalogue évolue.</a:t>
            </a:r>
            <a:endParaRPr lang="en-US" sz="1300" dirty="0"/>
          </a:p>
        </p:txBody>
      </p:sp>
      <p:sp>
        <p:nvSpPr>
          <p:cNvPr id="29" name="Item Connexion directe"/>
          <p:cNvSpPr/>
          <p:nvPr/>
        </p:nvSpPr>
        <p:spPr>
          <a:xfrm>
            <a:off x="4663440" y="3694176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Connexion directe cercle"/>
          <p:cNvSpPr/>
          <p:nvPr/>
        </p:nvSpPr>
        <p:spPr>
          <a:xfrm>
            <a:off x="4800600" y="39410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Connexion directe" descr="Connexion direct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4055364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394960" y="3749040"/>
            <a:ext cx="3200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directe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du CMS (WooCommerce / PrestaShop) et de l'ERP, fini les exports manuels.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en direct sur Kestra (3 min)</a:t>
            </a:r>
            <a:endParaRPr lang="en-US" sz="2800" dirty="0"/>
          </a:p>
        </p:txBody>
      </p:sp>
      <p:sp>
        <p:nvSpPr>
          <p:cNvPr id="24" name="Bandeau final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 txBox="1"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— place à la démonstration et à vos questions !</a:t>
            </a:r>
            <a:endParaRPr lang="en-US" sz="17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1EE29C3-E023-3173-5410-DEF2B1081E12}"/>
              </a:ext>
            </a:extLst>
          </p:cNvPr>
          <p:cNvSpPr txBox="1"/>
          <p:nvPr/>
        </p:nvSpPr>
        <p:spPr>
          <a:xfrm>
            <a:off x="2286000" y="23890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http://localhost:8080/ui/dashboards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ttleNeck COPIL">
  <a:themeElements>
    <a:clrScheme name="BottleNeck COPIL">
      <a:dk1>
        <a:srgbClr val="1F2937"/>
      </a:dk1>
      <a:lt1>
        <a:srgbClr val="FFFFFF"/>
      </a:lt1>
      <a:dk2>
        <a:srgbClr val="1A365D"/>
      </a:dk2>
      <a:lt2>
        <a:srgbClr val="F4F6F9"/>
      </a:lt2>
      <a:accent1>
        <a:srgbClr val="1A365D"/>
      </a:accent1>
      <a:accent2>
        <a:srgbClr val="742A2A"/>
      </a:accent2>
      <a:accent3>
        <a:srgbClr val="22543D"/>
      </a:accent3>
      <a:accent4>
        <a:srgbClr val="5A6B82"/>
      </a:accent4>
      <a:accent5>
        <a:srgbClr val="E9D8D8"/>
      </a:accent5>
      <a:accent6>
        <a:srgbClr val="DCE9E1"/>
      </a:accent6>
      <a:hlink>
        <a:srgbClr val="1A365D"/>
      </a:hlink>
      <a:folHlink>
        <a:srgbClr val="742A2A"/>
      </a:folHlink>
    </a:clrScheme>
    <a:fontScheme name="BottleNeck COPI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1123</Words>
  <Application>Microsoft Office PowerPoint</Application>
  <PresentationFormat>Affichage à l'écran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BottleNeck COPIL</vt:lpstr>
      <vt:lpstr>Présentation PowerPoint</vt:lpstr>
      <vt:lpstr>Contexte métier &amp; objectifs d'industrialisation</vt:lpstr>
      <vt:lpstr>Architecture technique &amp; choix technologiques</vt:lpstr>
      <vt:lpstr>Logigramme fonctionnel du pipeline</vt:lpstr>
      <vt:lpstr>Audit des sources &amp; réconciliation métier</vt:lpstr>
      <vt:lpstr>Kestra : ordonnancement visuel</vt:lpstr>
      <vt:lpstr>Tests automatisés Fail-Fast &amp; résultats validés</vt:lpstr>
      <vt:lpstr>Preuve de robustesse : simulation d'anomalie (Test KO)</vt:lpstr>
      <vt:lpstr>Résilience, gestion des pannes &amp; évolutions</vt:lpstr>
      <vt:lpstr>Démonstration en direct sur Kestra (3 min)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Industrialisation &amp; Fiabilisation du Pipeline Data BottleNeck</dc:title>
  <dc:subject>PptxGenJS Presentation</dc:subject>
  <dc:creator>Amin Mahmoud</dc:creator>
  <cp:lastModifiedBy>amin mahmoud</cp:lastModifiedBy>
  <cp:revision>11</cp:revision>
  <dcterms:created xsi:type="dcterms:W3CDTF">2026-10-26T17:55:58Z</dcterms:created>
  <dcterms:modified xsi:type="dcterms:W3CDTF">2026-10-28T10:02:53Z</dcterms:modified>
</cp:coreProperties>
</file>