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ntexte" id="{4E22F0DB-6055-BE10-5327-DA3C273D7D62}">
          <p14:sldIdLst>
            <p14:sldId id="256"/>
            <p14:sldId id="257"/>
            <p14:sldId id="258"/>
          </p14:sldIdLst>
        </p14:section>
        <p14:section name="Pipeline" id="{004B0FBB-88E2-E5D9-2302-D85570CB2391}">
          <p14:sldIdLst>
            <p14:sldId id="259"/>
            <p14:sldId id="260"/>
            <p14:sldId id="261"/>
            <p14:sldId id="262"/>
            <p14:sldId id="263"/>
          </p14:sldIdLst>
        </p14:section>
        <p14:section name="Résilience &amp; démo" id="{40A74218-D514-E5D4-AA19-7710A9370FB8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63382" autoAdjust="0"/>
  </p:normalViewPr>
  <p:slideViewPr>
    <p:cSldViewPr snapToGrid="0" snapToObjects="1">
      <p:cViewPr varScale="1">
        <p:scale>
          <a:sx n="135" d="100"/>
          <a:sy n="135" d="100"/>
        </p:scale>
        <p:origin x="25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3832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13.png"/><Relationship Id="rId10" Type="http://schemas.openxmlformats.org/officeDocument/2006/relationships/image" Target="../media/image28.png"/><Relationship Id="rId4" Type="http://schemas.openxmlformats.org/officeDocument/2006/relationships/image" Target="../media/image24.png"/><Relationship Id="rId9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ercle bordeaux"/>
          <p:cNvSpPr/>
          <p:nvPr/>
        </p:nvSpPr>
        <p:spPr>
          <a:xfrm>
            <a:off x="6492240" y="502920"/>
            <a:ext cx="2194560" cy="219456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" name="Icône vin" descr="Verre de v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14300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9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PILOTAGE · BOTTLENECK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1440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Industrialisation &amp; Fiabilisation du Pipeline Data BottleNeck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2316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CE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mensuelle de la réconciliation ERP / Web, du reporting financier et de la segmentation marketing avec Kestra, DuckDB et Python</a:t>
            </a:r>
            <a:endParaRPr lang="en-US" sz="1500" dirty="0"/>
          </a:p>
        </p:txBody>
      </p:sp>
      <p:sp>
        <p:nvSpPr>
          <p:cNvPr id="7" name="Bloc infos"/>
          <p:cNvSpPr/>
          <p:nvPr/>
        </p:nvSpPr>
        <p:spPr>
          <a:xfrm>
            <a:off x="548640" y="3566160"/>
            <a:ext cx="8046720" cy="1005840"/>
          </a:xfrm>
          <a:prstGeom prst="roundRect">
            <a:avLst>
              <a:gd name="adj" fmla="val 7273"/>
            </a:avLst>
          </a:prstGeom>
          <a:solidFill>
            <a:schemeClr val="bg1">
              <a:alpha val="10000"/>
            </a:scheme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 txBox="1"/>
          <p:nvPr/>
        </p:nvSpPr>
        <p:spPr>
          <a:xfrm>
            <a:off x="731520" y="3657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Amin Mahmoud — Data Engineer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: 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Laurent (Manager Data), Stéphane (Data Analyst), Laure (Produits B2B), Maria (Produits B2C) &amp; DSI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: 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Octobre 2026</a:t>
            </a:r>
            <a:endParaRPr lang="en-US" sz="1200" dirty="0"/>
          </a:p>
        </p:txBody>
      </p:sp>
      <p:sp>
        <p:nvSpPr>
          <p:cNvPr id="10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métier &amp; objectifs d'industrialisation</a:t>
            </a:r>
            <a:endParaRPr lang="en-US" sz="2600" dirty="0"/>
          </a:p>
        </p:txBody>
      </p:sp>
      <p:sp>
        <p:nvSpPr>
          <p:cNvPr id="3" name="Carte 1"/>
          <p:cNvSpPr/>
          <p:nvPr/>
        </p:nvSpPr>
        <p:spPr>
          <a:xfrm>
            <a:off x="457200" y="1051560"/>
            <a:ext cx="2587752" cy="3383280"/>
          </a:xfrm>
          <a:prstGeom prst="roundRect">
            <a:avLst>
              <a:gd name="adj" fmla="val 2827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1. Point de départ cercle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1. Point de départ" descr="1. Point de dép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716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34440"/>
            <a:ext cx="1581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Point de départ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554480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de Stéphane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011680"/>
            <a:ext cx="22219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exports isolés 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(prix, stocks), CMS Web (ventes en ligne) et table de liaison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Démarche validée 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 → réconciliation → chiffre d'affaires → Z-score des vins millésimes</a:t>
            </a:r>
            <a:endParaRPr lang="en-US" sz="1400" dirty="0"/>
          </a:p>
        </p:txBody>
      </p:sp>
      <p:sp>
        <p:nvSpPr>
          <p:cNvPr id="9" name="Carte 2"/>
          <p:cNvSpPr/>
          <p:nvPr/>
        </p:nvSpPr>
        <p:spPr>
          <a:xfrm>
            <a:off x="3278124" y="1051560"/>
            <a:ext cx="2587752" cy="3383280"/>
          </a:xfrm>
          <a:prstGeom prst="roundRect">
            <a:avLst>
              <a:gd name="adj" fmla="val 2827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2. Besoins métiers cercle"/>
          <p:cNvSpPr/>
          <p:nvPr/>
        </p:nvSpPr>
        <p:spPr>
          <a:xfrm>
            <a:off x="3461004" y="12344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2. Besoins métiers" descr="2. Besoins méti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8164" y="13716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146804" y="1234440"/>
            <a:ext cx="1581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Besoins métiers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146804" y="1554480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livrables attendus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3461004" y="2011680"/>
            <a:ext cx="22219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Excel, CA par produit et CA total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Laure (B2B) 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vins millésimes / premium en CSV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 (B2C) 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vins ordinaires en CSV</a:t>
            </a:r>
            <a:endParaRPr lang="en-US" sz="1400" dirty="0"/>
          </a:p>
        </p:txBody>
      </p:sp>
      <p:sp>
        <p:nvSpPr>
          <p:cNvPr id="15" name="Carte 3"/>
          <p:cNvSpPr/>
          <p:nvPr/>
        </p:nvSpPr>
        <p:spPr>
          <a:xfrm>
            <a:off x="6099048" y="1051560"/>
            <a:ext cx="2587752" cy="3383280"/>
          </a:xfrm>
          <a:prstGeom prst="roundRect">
            <a:avLst>
              <a:gd name="adj" fmla="val 2827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3. L'objectif cercle"/>
          <p:cNvSpPr/>
          <p:nvPr/>
        </p:nvSpPr>
        <p:spPr>
          <a:xfrm>
            <a:off x="6281928" y="12344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3. L'objectif" descr="3. L'object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088" y="137160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967728" y="1234440"/>
            <a:ext cx="1581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L'objectif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967728" y="1554480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Automatiser et garantir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281928" y="2011680"/>
            <a:ext cx="22219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Planifié 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15 de chaque mois à 09h00, sans intervention humaine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Zéro défaut » 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fichier généré si une donnée source est corrompue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technique &amp; choix technologiques</a:t>
            </a:r>
            <a:endParaRPr lang="en-US" sz="2600" dirty="0"/>
          </a:p>
        </p:txBody>
      </p:sp>
      <p:sp>
        <p:nvSpPr>
          <p:cNvPr id="3" name="Principe directeur"/>
          <p:cNvSpPr/>
          <p:nvPr/>
        </p:nvSpPr>
        <p:spPr>
          <a:xfrm>
            <a:off x="457200" y="960120"/>
            <a:ext cx="8229600" cy="4572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directeur 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séparer l'Orchestration (chef d'orchestre) du Traitement (moteurs de calcul)</a:t>
            </a:r>
            <a:endParaRPr lang="en-US" sz="1400" dirty="0"/>
          </a:p>
        </p:txBody>
      </p:sp>
      <p:sp>
        <p:nvSpPr>
          <p:cNvPr id="5" name="Carte Kestra"/>
          <p:cNvSpPr/>
          <p:nvPr/>
        </p:nvSpPr>
        <p:spPr>
          <a:xfrm>
            <a:off x="457200" y="160020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Kestra cercle"/>
          <p:cNvSpPr/>
          <p:nvPr/>
        </p:nvSpPr>
        <p:spPr>
          <a:xfrm>
            <a:off x="64008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Kestra" descr="Kest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202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17830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Kestra</a:t>
            </a:r>
            <a:endParaRPr lang="en-US" sz="15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Orchestrateur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4231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validé avec la DSI : interface visuelle, code déclaratif (YAML), branches parallèles, planification Cron, gestion centralisée des erreurs.</a:t>
            </a:r>
            <a:endParaRPr lang="en-US" sz="1200" dirty="0"/>
          </a:p>
        </p:txBody>
      </p:sp>
      <p:sp>
        <p:nvSpPr>
          <p:cNvPr id="10" name="Carte DuckDB"/>
          <p:cNvSpPr/>
          <p:nvPr/>
        </p:nvSpPr>
        <p:spPr>
          <a:xfrm>
            <a:off x="4663440" y="160020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DuckDB cercle"/>
          <p:cNvSpPr/>
          <p:nvPr/>
        </p:nvSpPr>
        <p:spPr>
          <a:xfrm>
            <a:off x="4846320" y="17830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DuckDB" descr="DuckD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9202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7830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DuckDB</a:t>
            </a:r>
            <a:endParaRPr lang="en-US" sz="15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SQL analytique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46320" y="24231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embarquée ultra-rapide (un seul fichier bottleneck.duckdb). Nettoyage, </a:t>
            </a:r>
            <a:r>
              <a:rPr lang="en-US" sz="1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dédoublonnage</a:t>
            </a: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jointures sans serveur lourd.</a:t>
            </a:r>
            <a:endParaRPr lang="en-US" sz="1200" dirty="0"/>
          </a:p>
        </p:txBody>
      </p:sp>
      <p:sp>
        <p:nvSpPr>
          <p:cNvPr id="15" name="Carte Python &amp; Pandas"/>
          <p:cNvSpPr/>
          <p:nvPr/>
        </p:nvSpPr>
        <p:spPr>
          <a:xfrm>
            <a:off x="457200" y="329184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Python &amp; Pandas cercle"/>
          <p:cNvSpPr/>
          <p:nvPr/>
        </p:nvSpPr>
        <p:spPr>
          <a:xfrm>
            <a:off x="640080" y="34747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Python &amp; Pandas" descr="Python &amp; Panda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61188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25880" y="3474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&amp; Pandas</a:t>
            </a:r>
            <a:endParaRPr lang="en-US" sz="15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 &amp; exports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41148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sur la population et génération des livrables .xlsx et .csv.</a:t>
            </a:r>
            <a:endParaRPr lang="en-US" sz="1200" dirty="0"/>
          </a:p>
        </p:txBody>
      </p:sp>
      <p:sp>
        <p:nvSpPr>
          <p:cNvPr id="20" name="Carte Docker &amp; PostgreSQL 16"/>
          <p:cNvSpPr/>
          <p:nvPr/>
        </p:nvSpPr>
        <p:spPr>
          <a:xfrm>
            <a:off x="4663440" y="329184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Docker &amp; PostgreSQL 16 cercle"/>
          <p:cNvSpPr/>
          <p:nvPr/>
        </p:nvSpPr>
        <p:spPr>
          <a:xfrm>
            <a:off x="4846320" y="347472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Docker &amp; PostgreSQL 16" descr="Docker &amp; PostgreSQL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361188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532120" y="3474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&amp; PostgreSQL 16</a:t>
            </a:r>
            <a:endParaRPr lang="en-US" sz="15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4846320" y="41148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Conteneurisation : portabilité, isolation et reproductibilité totale du pipeline.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Logigramme fonctionnel du pipeline</a:t>
            </a:r>
            <a:endParaRPr lang="en-US" sz="2600" dirty="0"/>
          </a:p>
        </p:txBody>
      </p:sp>
      <p:sp>
        <p:nvSpPr>
          <p:cNvPr id="3" name="Cadre schéma"/>
          <p:cNvSpPr/>
          <p:nvPr/>
        </p:nvSpPr>
        <p:spPr>
          <a:xfrm>
            <a:off x="1097280" y="868680"/>
            <a:ext cx="6949440" cy="3407792"/>
          </a:xfrm>
          <a:prstGeom prst="rect">
            <a:avLst/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Logigramme" descr="Logigramme fonctionnel du pipeline BottleN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914400"/>
            <a:ext cx="6858000" cy="3316352"/>
          </a:xfrm>
          <a:prstGeom prst="rect">
            <a:avLst/>
          </a:prstGeom>
        </p:spPr>
      </p:pic>
      <p:sp>
        <p:nvSpPr>
          <p:cNvPr id="5" name="Point clé 1"/>
          <p:cNvSpPr/>
          <p:nvPr/>
        </p:nvSpPr>
        <p:spPr>
          <a:xfrm>
            <a:off x="457200" y="4395344"/>
            <a:ext cx="4023360" cy="621792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Icône point 1 cercle"/>
          <p:cNvSpPr/>
          <p:nvPr/>
        </p:nvSpPr>
        <p:spPr>
          <a:xfrm>
            <a:off x="548640" y="450507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cône point 1" descr="Icône point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460565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44319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Séquentiel puis parallèle : </a:t>
            </a: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 → Réconciliation → 2 branches simultanées (4A Finances / 4B Marketing)</a:t>
            </a:r>
            <a:endParaRPr lang="en-US" sz="1100" dirty="0"/>
          </a:p>
        </p:txBody>
      </p:sp>
      <p:sp>
        <p:nvSpPr>
          <p:cNvPr id="9" name="Point clé 2"/>
          <p:cNvSpPr/>
          <p:nvPr/>
        </p:nvSpPr>
        <p:spPr>
          <a:xfrm>
            <a:off x="4572000" y="4395344"/>
            <a:ext cx="4023360" cy="621792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Icône point 2 cercle"/>
          <p:cNvSpPr/>
          <p:nvPr/>
        </p:nvSpPr>
        <p:spPr>
          <a:xfrm>
            <a:off x="4663440" y="4505072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cône point 2" descr="Icône point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024" y="460565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166360" y="44319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Fail-Fast : </a:t>
            </a: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étape est verrouillée par un contrôle qualité avant la suivante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des sources &amp; réconciliation métier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4035039"/>
              </p:ext>
            </p:extLst>
          </p:nvPr>
        </p:nvGraphicFramePr>
        <p:xfrm>
          <a:off x="457200" y="960120"/>
          <a:ext cx="8229600" cy="187452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Traitement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Résultat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Fichier_erp.xlsx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 lignes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dirty="0"/>
                        <a:t>Aucune case vide, aucun doublon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 réf. uniques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fichier_liaison.xlsx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 lignes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id_web non renseignés (produits non vendus en ligne)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 correspondances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Fichier_web.xlsx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1 513 lignes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sku vides → 1 428, </a:t>
                      </a:r>
                      <a:r>
                        <a:rPr lang="fr-FR" sz="1100" dirty="0"/>
                        <a:t>puis exclusion des 714 fichiers d'images pour ne garder que les fiches produits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714 produits uniques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erp_web_merged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dirty="0"/>
                        <a:t>Croisement des fichiers ERP et Web via la table de correspondance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714 produits intègres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Anomalie ERP"/>
          <p:cNvSpPr/>
          <p:nvPr/>
        </p:nvSpPr>
        <p:spPr>
          <a:xfrm>
            <a:off x="457200" y="31089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3E8E8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Anomalie ERP cercle"/>
          <p:cNvSpPr/>
          <p:nvPr/>
        </p:nvSpPr>
        <p:spPr>
          <a:xfrm>
            <a:off x="640080" y="32918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" name="Anomalie ERP" descr="Anomalie ER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" y="3387852"/>
            <a:ext cx="192024" cy="1920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329184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Anomalie ERP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7947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références à prix négatifs : product_id 5017 (−8,00 €) et 6594 (−1,00 €), hors vente web (onsale_web = 0). Écartées par la jointure et surveillées par le Test 3 (price &gt; 0).</a:t>
            </a:r>
            <a:endParaRPr lang="en-US" sz="1300" dirty="0"/>
          </a:p>
        </p:txBody>
      </p:sp>
      <p:sp>
        <p:nvSpPr>
          <p:cNvPr id="9" name="Anomalie CMS Web"/>
          <p:cNvSpPr/>
          <p:nvPr/>
        </p:nvSpPr>
        <p:spPr>
          <a:xfrm>
            <a:off x="4663440" y="31089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3E8E8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Anomalie CMS Web cercle"/>
          <p:cNvSpPr/>
          <p:nvPr/>
        </p:nvSpPr>
        <p:spPr>
          <a:xfrm>
            <a:off x="4846320" y="32918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Anomalie CMS Web" descr="Anomalie CMS We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2332" y="3387852"/>
            <a:ext cx="192024" cy="1920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49240" y="329184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Anomalie CMS Web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4846320" y="37947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85 lignes sans sku, 2 sont de vraies fiches : Pierre Jean Villa Condrieu Jardin Suspendu 2018 et Côte Rôtie Fongeant 2017. À corriger dans le CMS.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Kestra : ordonnancement visuel</a:t>
            </a:r>
            <a:endParaRPr lang="en-US" sz="2600" dirty="0"/>
          </a:p>
        </p:txBody>
      </p:sp>
      <p:sp>
        <p:nvSpPr>
          <p:cNvPr id="3" name="Cadre topologie"/>
          <p:cNvSpPr/>
          <p:nvPr/>
        </p:nvSpPr>
        <p:spPr>
          <a:xfrm>
            <a:off x="411480" y="960120"/>
            <a:ext cx="8321040" cy="1242508"/>
          </a:xfrm>
          <a:prstGeom prst="rect">
            <a:avLst/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Capture topologie" descr="Vue Topologie Kestra du flow bottleneck_pipel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9681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22483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Topologie générée automatiquement à partir du code YAML</a:t>
            </a:r>
            <a:endParaRPr lang="en-US" sz="1000" dirty="0"/>
          </a:p>
        </p:txBody>
      </p:sp>
      <p:sp>
        <p:nvSpPr>
          <p:cNvPr id="6" name="Concept Flow"/>
          <p:cNvSpPr/>
          <p:nvPr/>
        </p:nvSpPr>
        <p:spPr>
          <a:xfrm>
            <a:off x="457200" y="269748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Flow cercle"/>
          <p:cNvSpPr/>
          <p:nvPr/>
        </p:nvSpPr>
        <p:spPr>
          <a:xfrm>
            <a:off x="640080" y="28803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Flow" descr="Flow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10" y="3006090"/>
            <a:ext cx="251460" cy="2514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0080" y="3502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Flow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381304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bottleneck_pipeline : le plan de marche global, dans un fichier YAML unique et lisible.</a:t>
            </a:r>
            <a:endParaRPr lang="en-US" sz="1200" dirty="0"/>
          </a:p>
        </p:txBody>
      </p:sp>
      <p:sp>
        <p:nvSpPr>
          <p:cNvPr id="11" name="Concept Tasks"/>
          <p:cNvSpPr/>
          <p:nvPr/>
        </p:nvSpPr>
        <p:spPr>
          <a:xfrm>
            <a:off x="2560320" y="269748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asks cercle"/>
          <p:cNvSpPr/>
          <p:nvPr/>
        </p:nvSpPr>
        <p:spPr>
          <a:xfrm>
            <a:off x="2743200" y="28803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Tasks" descr="Task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8930" y="3006090"/>
            <a:ext cx="251460" cy="2514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743200" y="3502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Tasks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2743200" y="381304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briques unitaires : une transformation de données ou un test de contrôle.</a:t>
            </a:r>
            <a:endParaRPr lang="en-US" sz="1200" dirty="0"/>
          </a:p>
        </p:txBody>
      </p:sp>
      <p:sp>
        <p:nvSpPr>
          <p:cNvPr id="16" name="Concept Parallel"/>
          <p:cNvSpPr/>
          <p:nvPr/>
        </p:nvSpPr>
        <p:spPr>
          <a:xfrm>
            <a:off x="4663440" y="269748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Parallel cercle"/>
          <p:cNvSpPr/>
          <p:nvPr/>
        </p:nvSpPr>
        <p:spPr>
          <a:xfrm>
            <a:off x="4846320" y="28803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Parallel" descr="Paralle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2050" y="3006090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46320" y="3502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Parallel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4846320" y="381304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CA et Z-Score exécutées en même temps.</a:t>
            </a:r>
            <a:endParaRPr lang="en-US" sz="1200" dirty="0"/>
          </a:p>
        </p:txBody>
      </p:sp>
      <p:sp>
        <p:nvSpPr>
          <p:cNvPr id="21" name="Concept Trigger"/>
          <p:cNvSpPr/>
          <p:nvPr/>
        </p:nvSpPr>
        <p:spPr>
          <a:xfrm>
            <a:off x="6766560" y="269748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rigger cercle"/>
          <p:cNvSpPr/>
          <p:nvPr/>
        </p:nvSpPr>
        <p:spPr>
          <a:xfrm>
            <a:off x="6949440" y="288036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3" name="Trigger" descr="Trigg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5170" y="3006090"/>
            <a:ext cx="251460" cy="25146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949440" y="3502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Trigger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381304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L'horloge interne : Cron 0 9 15 * *, le 15 de chaque mois à 09h00.</a:t>
            </a:r>
            <a:endParaRPr lang="en-US" sz="12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automatisés Fail-Fast &amp; résultats validés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0440022"/>
              </p:ext>
            </p:extLst>
          </p:nvPr>
        </p:nvGraphicFramePr>
        <p:xfrm>
          <a:off x="457200" y="914400"/>
          <a:ext cx="8229600" cy="21031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38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40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Kestra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Règle vérifiée automatiquement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Résultat validé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1 — Valeurs manquantes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dirty="0"/>
                        <a:t>100 % des codes produits renseignés &amp; volume Web nettoyé conforme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erp 825 | liaison 825 | web 1 428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2 — Unicité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dirty="0"/>
                        <a:t>Vérification qu'aucun produit n'apparaît en double dans les 3 fichiers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erp 825 | liaison 825 | web 714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3 — Jointure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dirty="0"/>
                        <a:t>Aucune donnée manquante et 100 % des prix </a:t>
                      </a: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0 €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714 produits réconciliés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4A — Financier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CA négatif, contrôle de la somme totale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 Total = 70 568,60 €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4B — Z-score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Répartition</a:t>
                      </a: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exacte</a:t>
                      </a: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(prix moyen = 32,49 €, Ecart-type = 27,79 €)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54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Premium + 684 Ordinaires = 714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1089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: 15 tâches au vert en 14,18 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3749040" y="31089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: valeurs exactes confirmées</a:t>
            </a:r>
            <a:endParaRPr lang="en-US" sz="1100" dirty="0"/>
          </a:p>
        </p:txBody>
      </p:sp>
      <p:pic>
        <p:nvPicPr>
          <p:cNvPr id="6" name="Capture Gantt" descr="Diagramme de Gantt Kestra, 15 tâches réuss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64992"/>
            <a:ext cx="3017520" cy="1423209"/>
          </a:xfrm>
          <a:prstGeom prst="rect">
            <a:avLst/>
          </a:prstGeom>
        </p:spPr>
      </p:pic>
      <p:pic>
        <p:nvPicPr>
          <p:cNvPr id="7" name="Capture logs" descr="Journaux Kestra des 5 tests validé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3364992"/>
            <a:ext cx="4480560" cy="138504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Preuve de robustesse : simulation d'anomalie (Test KO)</a:t>
            </a:r>
            <a:endParaRPr lang="en-US" sz="2600" dirty="0"/>
          </a:p>
        </p:txBody>
      </p:sp>
      <p:sp>
        <p:nvSpPr>
          <p:cNvPr id="3" name="Cadre KO"/>
          <p:cNvSpPr/>
          <p:nvPr/>
        </p:nvSpPr>
        <p:spPr>
          <a:xfrm>
            <a:off x="411480" y="960120"/>
            <a:ext cx="5120640" cy="2325661"/>
          </a:xfrm>
          <a:prstGeom prst="rect">
            <a:avLst/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Capture Test KO" descr="Exécution Kestra en échec au Test 3 et alerte automatiqu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5029200" cy="2234221"/>
          </a:xfrm>
          <a:prstGeom prst="rect">
            <a:avLst/>
          </a:prstGeom>
        </p:spPr>
      </p:pic>
      <p:sp>
        <p:nvSpPr>
          <p:cNvPr id="5" name="Bandeau garantie"/>
          <p:cNvSpPr/>
          <p:nvPr/>
        </p:nvSpPr>
        <p:spPr>
          <a:xfrm>
            <a:off x="457200" y="3468661"/>
            <a:ext cx="5029200" cy="1149059"/>
          </a:xfrm>
          <a:prstGeom prst="roundRect">
            <a:avLst>
              <a:gd name="adj" fmla="val 6366"/>
            </a:avLst>
          </a:prstGeom>
          <a:solidFill>
            <a:srgbClr val="F3E8E8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Garantie cercle"/>
          <p:cNvSpPr/>
          <p:nvPr/>
        </p:nvSpPr>
        <p:spPr>
          <a:xfrm>
            <a:off x="640080" y="3651541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Garantie" descr="Garanti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765841"/>
            <a:ext cx="228600" cy="228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3560101"/>
            <a:ext cx="4114800" cy="9661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fichiers du mois précédent ne sont jamais écrasés par des données fausses.</a:t>
            </a:r>
            <a:endParaRPr lang="en-US" sz="1300" dirty="0"/>
          </a:p>
        </p:txBody>
      </p:sp>
      <p:sp>
        <p:nvSpPr>
          <p:cNvPr id="9" name="1. Détection immédiate"/>
          <p:cNvSpPr/>
          <p:nvPr/>
        </p:nvSpPr>
        <p:spPr>
          <a:xfrm>
            <a:off x="5715000" y="960120"/>
            <a:ext cx="297180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1. Détection immédiate cercle"/>
          <p:cNvSpPr/>
          <p:nvPr/>
        </p:nvSpPr>
        <p:spPr>
          <a:xfrm>
            <a:off x="5852160" y="10972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1. Détection immédiate" descr="1. Détection immédia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5030" y="1200150"/>
            <a:ext cx="205740" cy="2057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355080" y="10698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Détection immédiate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5852160" y="15544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fr-FR" sz="1100" dirty="0"/>
              <a:t>Le contrôle détecte une anomalie (ici : un prix négatif ou nul) et donne l'alerte.</a:t>
            </a:r>
            <a:endParaRPr lang="en-US" sz="1100" dirty="0"/>
          </a:p>
        </p:txBody>
      </p:sp>
      <p:sp>
        <p:nvSpPr>
          <p:cNvPr id="14" name="2. Arrêt franc"/>
          <p:cNvSpPr/>
          <p:nvPr/>
        </p:nvSpPr>
        <p:spPr>
          <a:xfrm>
            <a:off x="5715000" y="2194560"/>
            <a:ext cx="297180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2. Arrêt franc cercle"/>
          <p:cNvSpPr/>
          <p:nvPr/>
        </p:nvSpPr>
        <p:spPr>
          <a:xfrm>
            <a:off x="5852160" y="233172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2. Arrêt franc" descr="2. Arrêt fran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5030" y="2434590"/>
            <a:ext cx="205740" cy="2057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355080" y="23042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Arrêt franc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5852160" y="2788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tâches aval (calculs, exports Excel/CSV) ne sont pas exécutées.</a:t>
            </a:r>
            <a:endParaRPr lang="en-US" sz="1100" dirty="0"/>
          </a:p>
        </p:txBody>
      </p:sp>
      <p:sp>
        <p:nvSpPr>
          <p:cNvPr id="19" name="3. Alerte automatique"/>
          <p:cNvSpPr/>
          <p:nvPr/>
        </p:nvSpPr>
        <p:spPr>
          <a:xfrm>
            <a:off x="5715000" y="3429000"/>
            <a:ext cx="297180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3. Alerte automatique cercle"/>
          <p:cNvSpPr/>
          <p:nvPr/>
        </p:nvSpPr>
        <p:spPr>
          <a:xfrm>
            <a:off x="5852160" y="3566160"/>
            <a:ext cx="411480" cy="4114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3. Alerte automatique" descr="3. Alerte automatiqu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5030" y="3669030"/>
            <a:ext cx="205740" cy="2057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355080" y="35387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Alerte automatique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5806765" y="4023360"/>
            <a:ext cx="2915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fr-FR" sz="1100" dirty="0"/>
              <a:t>Le système de surveillance envoie immédiatement un message d'alerte à l'équipe Data.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Résilience, gestion des pannes &amp; évolutions</a:t>
            </a:r>
            <a:endParaRPr lang="en-US" sz="2600" dirty="0"/>
          </a:p>
        </p:txBody>
      </p:sp>
      <p:sp>
        <p:nvSpPr>
          <p:cNvPr id="3" name="En-tête Solutions implémentées (focus DSI)"/>
          <p:cNvSpPr/>
          <p:nvPr/>
        </p:nvSpPr>
        <p:spPr>
          <a:xfrm>
            <a:off x="457200" y="960120"/>
            <a:ext cx="4023360" cy="4572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cône Solutions implémentées (focus DSI)" descr="Solutions implémentées (focus DSI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6984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960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Solutions implémentées (focus DSI)</a:t>
            </a:r>
            <a:endParaRPr lang="en-US" sz="1400" dirty="0"/>
          </a:p>
        </p:txBody>
      </p:sp>
      <p:sp>
        <p:nvSpPr>
          <p:cNvPr id="6" name="Item Indisponibilité temporaire (verrou DuckDB, disque)"/>
          <p:cNvSpPr/>
          <p:nvPr/>
        </p:nvSpPr>
        <p:spPr>
          <a:xfrm>
            <a:off x="457200" y="1554480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Indisponibilité temporaire (verrou DuckDB, disque) cercle"/>
          <p:cNvSpPr/>
          <p:nvPr/>
        </p:nvSpPr>
        <p:spPr>
          <a:xfrm>
            <a:off x="594360" y="1801368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ndisponibilité temporaire (verrou DuckDB, disque)" descr="Indisponibilité temporaire (verrou DuckDB, disque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1915668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88720" y="1609344"/>
            <a:ext cx="32004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Indisponibilité temporaire (verrou DuckDB, disque)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automatique : 3 tentatives espacées de 15 secondes avant échec.</a:t>
            </a:r>
            <a:endParaRPr lang="en-US" sz="1300" dirty="0"/>
          </a:p>
        </p:txBody>
      </p:sp>
      <p:sp>
        <p:nvSpPr>
          <p:cNvPr id="10" name="Item Source absente ou corrompue"/>
          <p:cNvSpPr/>
          <p:nvPr/>
        </p:nvSpPr>
        <p:spPr>
          <a:xfrm>
            <a:off x="457200" y="2624328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ource absente ou corrompue cercle"/>
          <p:cNvSpPr/>
          <p:nvPr/>
        </p:nvSpPr>
        <p:spPr>
          <a:xfrm>
            <a:off x="594360" y="2871216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Source absente ou corrompue" descr="Source absente ou corrompu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298551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679192"/>
            <a:ext cx="32004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absente ou corrompue</a:t>
            </a:r>
            <a:endParaRPr lang="en-US" sz="1300" dirty="0"/>
          </a:p>
          <a:p>
            <a:r>
              <a:rPr lang="fr-FR" sz="1200" dirty="0"/>
              <a:t>Contrôle dès l'ouverture que les fichiers sont complets et acceptation des codes produits contenant des lettres (ex: bons cadeaux).</a:t>
            </a:r>
            <a:endParaRPr lang="en-US" sz="1300" dirty="0"/>
          </a:p>
        </p:txBody>
      </p:sp>
      <p:sp>
        <p:nvSpPr>
          <p:cNvPr id="14" name="Item Isolation &amp; persistance"/>
          <p:cNvSpPr/>
          <p:nvPr/>
        </p:nvSpPr>
        <p:spPr>
          <a:xfrm>
            <a:off x="457200" y="3694176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Isolation &amp; persistance cercle"/>
          <p:cNvSpPr/>
          <p:nvPr/>
        </p:nvSpPr>
        <p:spPr>
          <a:xfrm>
            <a:off x="594360" y="3941064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solation &amp; persistance" descr="Isolation &amp; persistanc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" y="4055364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88720" y="3749040"/>
            <a:ext cx="32004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&amp; persistance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Exécution locale isolée ; base bottleneck.duckdb sur volume Docker monté.</a:t>
            </a:r>
            <a:endParaRPr lang="en-US" sz="1300" dirty="0"/>
          </a:p>
        </p:txBody>
      </p:sp>
      <p:sp>
        <p:nvSpPr>
          <p:cNvPr id="18" name="En-tête Pistes d'évolution"/>
          <p:cNvSpPr/>
          <p:nvPr/>
        </p:nvSpPr>
        <p:spPr>
          <a:xfrm>
            <a:off x="4663440" y="960120"/>
            <a:ext cx="4023360" cy="4572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cône Pistes d'évolution" descr="Pistes d'évoluti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1069848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166360" y="960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Pistes d'évolution</a:t>
            </a:r>
            <a:endParaRPr lang="en-US" sz="1400" dirty="0"/>
          </a:p>
        </p:txBody>
      </p:sp>
      <p:sp>
        <p:nvSpPr>
          <p:cNvPr id="21" name="Item Alerting temps réel"/>
          <p:cNvSpPr/>
          <p:nvPr/>
        </p:nvSpPr>
        <p:spPr>
          <a:xfrm>
            <a:off x="4663440" y="1554480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Alerting temps réel cercle"/>
          <p:cNvSpPr/>
          <p:nvPr/>
        </p:nvSpPr>
        <p:spPr>
          <a:xfrm>
            <a:off x="4800600" y="18013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3" name="Alerting temps réel" descr="Alerting temps réel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14900" y="1915668"/>
            <a:ext cx="228600" cy="2286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394960" y="1609344"/>
            <a:ext cx="32004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 temps réel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Brancher errors sur Slack, Teams ou SMTP ; envoyer les livrables à Laure et Maria.</a:t>
            </a:r>
            <a:endParaRPr lang="en-US" sz="1300" dirty="0"/>
          </a:p>
        </p:txBody>
      </p:sp>
      <p:sp>
        <p:nvSpPr>
          <p:cNvPr id="25" name="Item Tests dynamiques"/>
          <p:cNvSpPr/>
          <p:nvPr/>
        </p:nvSpPr>
        <p:spPr>
          <a:xfrm>
            <a:off x="4663440" y="2624328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Tests dynamiques cercle"/>
          <p:cNvSpPr/>
          <p:nvPr/>
        </p:nvSpPr>
        <p:spPr>
          <a:xfrm>
            <a:off x="4800600" y="287121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7" name="Tests dynamiques" descr="Tests dynamiques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14900" y="2985516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394960" y="2679192"/>
            <a:ext cx="32004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dynamiques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Plages de tolérance à la place des seuils fixes (ex. 714) quand le catalogue grandit.</a:t>
            </a:r>
            <a:endParaRPr lang="en-US" sz="1300" dirty="0"/>
          </a:p>
        </p:txBody>
      </p:sp>
      <p:sp>
        <p:nvSpPr>
          <p:cNvPr id="29" name="Item Connexion directe"/>
          <p:cNvSpPr/>
          <p:nvPr/>
        </p:nvSpPr>
        <p:spPr>
          <a:xfrm>
            <a:off x="4663440" y="3694176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Connexion directe cercle"/>
          <p:cNvSpPr/>
          <p:nvPr/>
        </p:nvSpPr>
        <p:spPr>
          <a:xfrm>
            <a:off x="4800600" y="394106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Connexion directe" descr="Connexion direct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14900" y="4055364"/>
            <a:ext cx="228600" cy="22860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5394960" y="3749040"/>
            <a:ext cx="32004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directe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du CMS (WooCommerce / PrestaShop) et de l'ERP, fini les exports manuels.</a:t>
            </a:r>
            <a:endParaRPr lang="en-US" sz="13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Démonstration en direct sur Kestra (3 min)</a:t>
            </a:r>
            <a:endParaRPr lang="en-US" sz="2800" dirty="0"/>
          </a:p>
        </p:txBody>
      </p:sp>
      <p:sp>
        <p:nvSpPr>
          <p:cNvPr id="24" name="Bandeau final"/>
          <p:cNvSpPr/>
          <p:nvPr/>
        </p:nvSpPr>
        <p:spPr>
          <a:xfrm>
            <a:off x="548640" y="4023360"/>
            <a:ext cx="804672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0"/>
          <p:cNvSpPr txBox="1"/>
          <p:nvPr/>
        </p:nvSpPr>
        <p:spPr>
          <a:xfrm>
            <a:off x="548640" y="40233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 — place à la démonstration et à vos questions !</a:t>
            </a:r>
            <a:endParaRPr lang="en-US" sz="17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21EE29C3-E023-3173-5410-DEF2B1081E12}"/>
              </a:ext>
            </a:extLst>
          </p:cNvPr>
          <p:cNvSpPr txBox="1"/>
          <p:nvPr/>
        </p:nvSpPr>
        <p:spPr>
          <a:xfrm>
            <a:off x="2286000" y="238901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http://localhost:8080/ui/dashboards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ottleNeck COPIL">
  <a:themeElements>
    <a:clrScheme name="BottleNeck COPIL">
      <a:dk1>
        <a:srgbClr val="1F2937"/>
      </a:dk1>
      <a:lt1>
        <a:srgbClr val="FFFFFF"/>
      </a:lt1>
      <a:dk2>
        <a:srgbClr val="1A365D"/>
      </a:dk2>
      <a:lt2>
        <a:srgbClr val="F4F6F9"/>
      </a:lt2>
      <a:accent1>
        <a:srgbClr val="1A365D"/>
      </a:accent1>
      <a:accent2>
        <a:srgbClr val="742A2A"/>
      </a:accent2>
      <a:accent3>
        <a:srgbClr val="22543D"/>
      </a:accent3>
      <a:accent4>
        <a:srgbClr val="5A6B82"/>
      </a:accent4>
      <a:accent5>
        <a:srgbClr val="E9D8D8"/>
      </a:accent5>
      <a:accent6>
        <a:srgbClr val="DCE9E1"/>
      </a:accent6>
      <a:hlink>
        <a:srgbClr val="1A365D"/>
      </a:hlink>
      <a:folHlink>
        <a:srgbClr val="742A2A"/>
      </a:folHlink>
    </a:clrScheme>
    <a:fontScheme name="BottleNeck COPI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1007</Words>
  <Application>Microsoft Office PowerPoint</Application>
  <PresentationFormat>Affichage à l'écran (16:9)</PresentationFormat>
  <Paragraphs>137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BottleNeck COPIL</vt:lpstr>
      <vt:lpstr>Présentation PowerPoint</vt:lpstr>
      <vt:lpstr>Contexte métier &amp; objectifs d'industrialisation</vt:lpstr>
      <vt:lpstr>Architecture technique &amp; choix technologiques</vt:lpstr>
      <vt:lpstr>Logigramme fonctionnel du pipeline</vt:lpstr>
      <vt:lpstr>Audit des sources &amp; réconciliation métier</vt:lpstr>
      <vt:lpstr>Kestra : ordonnancement visuel</vt:lpstr>
      <vt:lpstr>Tests automatisés Fail-Fast &amp; résultats validés</vt:lpstr>
      <vt:lpstr>Preuve de robustesse : simulation d'anomalie (Test KO)</vt:lpstr>
      <vt:lpstr>Résilience, gestion des pannes &amp; évolutions</vt:lpstr>
      <vt:lpstr>Démonstration en direct sur Kestra (3 min)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Industrialisation &amp; Fiabilisation du Pipeline Data BottleNeck</dc:title>
  <dc:creator>Amin Mahmoud</dc:creator>
  <cp:lastModifiedBy>amin mahmoud</cp:lastModifiedBy>
  <cp:revision>6</cp:revision>
  <dcterms:created xsi:type="dcterms:W3CDTF">2026-10-26T17:55:58Z</dcterms:created>
  <dcterms:modified xsi:type="dcterms:W3CDTF">2026-10-26T18:52:25Z</dcterms:modified>
</cp:coreProperties>
</file>